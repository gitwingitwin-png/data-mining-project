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GROUP ASSIGNMENT #1  ·  DATA MINING /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4708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ElderCare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52928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E1E0D9"/>
                </a:solidFill>
                <a:latin typeface="Prompt"/>
                <a:cs typeface="Prompt"/>
                <a:ea typeface="Prompt"/>
              </a:rPr>
              <a:t>Mini Data Warehouse &amp; Analytics Dashboard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สำหรับธุรกิจสถานพยาบาลผู้สูงอายุ (skilled nursing facility) ในสหรัฐอเมริกา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3931920"/>
            <a:ext cx="4937760" cy="0"/>
          </a:xfrm>
          <a:prstGeom prst="line">
            <a:avLst/>
          </a:prstGeom>
          <a:ln w="12700">
            <a:solidFill>
              <a:srgbClr val="3A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4133087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กลุ่มที่ 01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1 __________________  ·  หน้าที่ 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2 __________________  ·  หน้าที่ 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3 __________________  ·  หน้าที่ 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33087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ข้อมูล CMS Provider Data Catalog · 32 งวดรายไตรมาส 2562–2569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DuckDB star schema · 2 Fact · 6 Dimension · 483,183 แถว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ETL เขียนด้วย Python + pandas · แดชบอร์ด Streamlit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22 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สารบัญ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โครงการนำเสนอ และผู้พูดแต่ละช่วง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แบ่งตามสัดส่วน 2 / 5 / 5 นาทีที่โจทย์กำหนด — สมาชิกทุกคนพูดและอธิบายผลงานของตนเอง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3503066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Business Problem &amp; Requirements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 นาที  ·  ผู้พูด 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ปัญหาทางธุรกิจและบริบท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Stakeholders 5 กลุ่ม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Business Questions 8 ข้อ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Measures 10 ตัว และเรื่องการบวกได้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4314" y="1481328"/>
            <a:ext cx="3503066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0346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02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Data Warehouse Design &amp; ETL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5 นาที  ·  ผู้พูด 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แหล่งข้อมูล 5 แหล่ง และความซับซ้อน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ปัญหาคุณภาพข้อมูล Q1–Q8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Star schema · Fact · Grain · SCD2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ETL 5 ขั้น และการตรวจก่อน/หลัง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0260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0260" y="1481328"/>
            <a:ext cx="3503066" cy="5486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292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03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Dashboard &amp; Business Insights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5 นาที  ·  ผู้พูด 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292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สาธิตแดชบอร์ดและ Interactive Filter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คำตอบของ BQ1–BQ8 พร้อมตัวเลข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ข้อเสนอแนะทางธุรกิจ 8 ข้อ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การใช้ Generative AI และการตรวจสอบ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ส่วนที่ 01  ·  2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Business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&amp; Requirements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ปัญหาทางธุรกิจ · Stakeholders · Business Questions ·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ข้อมูลมีอยู่แล้ว — ปัญหาคือรูปร่างของมัน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6446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ผู้ประกอบการสถานพยาบาลผู้สูงอายุต้องตัดสินใจสองเรื่องที่ใช้เงินมากที่สุด — </a:t>
            </a:r>
            <a:r>
              <a:rPr sz="140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จะขยายไปรัฐไหน</a:t>
            </a:r>
            <a:r>
              <a:rPr sz="1400" b="0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 และ </a:t>
            </a:r>
            <a:r>
              <a:rPr sz="140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ควรลงเงินกับกำลังคนเท่าไร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เผยแพร่ข้อมูลสถานพยาบาลที่ได้รับการรับรองทุกแห่งในสหรัฐฯ อยู่แล้ว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ข้อมูลจึงมีอยู่จริง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สิ่งที่ไม่มีคือรูปร่างที่เอาไปถามคำถามได้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เผยแพร่เฉพาะ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สถานะปัจจุบัน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ทุกงวดเขียนทับงวดก่อนหน้า ประวัติมีอยู่ในรูปแฟ้ม ZIP ที่ถูกเก็บไว้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88 แฟ้ม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ซึ่งไม่มีใครต่อเป็นชุดเดียว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คำถามง่าย ๆ อย่าง “อัตราการเข้าพักฟื้นหรือยัง และฟื้นที่ไหน” จึงไม่มีตารางให้ query เลย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คอลัมน์เดียวที่ดูเหมือนประวัติ — Total Amount of Fines in Dollars — เป็น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หน้าต่างหมุน 3 ปี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มันลดลงเองได้เมื่อค่าปรับเก่าหลุดออกจากหน้าต่าง อ่านเป็นยอดสะสมจะได้คำตอบที่มั่นใจและผิด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81328"/>
            <a:ext cx="4032504" cy="16916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481328"/>
            <a:ext cx="50292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3" y="1600200"/>
            <a:ext cx="363016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โครงงานนี้จึงสร้างสินทรัพย์ที่ขาดหายไป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คลังข้อมูลที่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เก็บทุกงวดไว้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เพื่อให้ถามคำถามเรื่องการเปลี่ยนแปลงตามเวลาได้ตั้งแต่แรก แทนที่จะเดาจากภาพนิ่งภาพเดียว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401568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401568"/>
            <a:ext cx="45720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5" y="3401568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1" y="3401568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งวดรายไตรมาส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2562-01 ถึง 2569-07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297680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297680"/>
            <a:ext cx="45720" cy="7863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5" y="4297680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483,183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1" y="4297680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แถวใน Fact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16,155 สถานพยาบาล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193792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93792"/>
            <a:ext cx="45720" cy="7863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5" y="5193792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79,803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1" y="5193792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เหตุการณ์ลงโทษ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ค่าปรับรวม $1,616,747,274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ใครใช้ข้อมูลนี้ และเขาเป็นเจ้าของการตัดสินใจอะไร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13487"/>
                <a:gridCol w="2887157"/>
                <a:gridCol w="4234497"/>
                <a:gridCol w="1539817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ผู้ใช้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การตัดสินใจที่เขาเป็นเจ้าของ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สิ่งที่ต้องการจากข้อมูล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ตอบด้วย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 / หัวหน้าฝ่ายขยายกิจการ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จะเข้าตลาดใด หรือซื้อกิจการที่ไหน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อุปทาน–อุปสงค์–คุณภาพคู่แข่ง แยกรายรัฐ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BQ1, BQ2, BQ8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COO / ผู้จัดการภูมิภาค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จะเข้าไปแทรกแซงที่ไหนก่อน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รายชื่อสถานพยาบาลที่คะแนนกำลังตก เรียงลำดับความเร่งด่วน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ฝ่ายบุคคล (HR)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ระดับกำลังคน และงบรักษาคนไว้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ความเชื่อมโยงระหว่างชั่วโมงพยาบาล อัตราลาออก และคุณภาพ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BQ3, BQ4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CFO / นักลงทุนสัมพันธ์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ผลตอบแทนและความเสี่ยง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ค่าปรับที่ต้องเผชิญ อัตราการเข้าพัก ตัวคูณจูงใจ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BQ2, BQ5, 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ฝ่ายกำกับกฎระเบียบ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ความเสี่ยงด้านกฎหมาย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แนวโน้มค่าปรับ ข้อบกพร่องที่พบบ่อย สถานะ Special Focus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BQ6, 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4882896"/>
            <a:ext cx="10874959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82896"/>
            <a:ext cx="5029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001768"/>
            <a:ext cx="10472623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คอลัมน์กลางคือข้อสอบของกราฟทุกใบ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ถ้ากราฟใบหนึ่งไม่ช่วยให้ใครสักคนในตารางนี้ตัดสินใจข้อใดข้อหนึ่งได้ กราฟนั้นไม่ควรอยู่บนแดชบอร์ด เกณฑ์ข้อนี้คือเหตุผลที่แดชบอร์ดมี 13 กราฟ ไม่ใช่ 40 กราฟ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คำถามทางธุรกิจ 8 ข้อ (โจทย์กำหนดขั้นต่ำ 5 ข้อ)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37856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823"/>
                <a:gridCol w="5542450"/>
                <a:gridCol w="1343624"/>
                <a:gridCol w="335906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#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คำถาม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ผู้ใช้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ตอบจากตารางใด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รัฐใดน่าเข้าไปลงทุนที่สุด เมื่อดูเตียงต่อผู้สูงอายุ 1,000 คน อัตราการเข้าพัก และคุณภาพคู่แข่ง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Dim_Geography × Ref_State_Population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รูปแบบการถือครองต่างกันอย่างไร ในด้านคุณภาพ กำลังคน และค่าปรับ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 Fact × Dim_Ownership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ชั่วโมงพยาบาลสัมพันธ์กับคะแนนและค่าปรับอย่างไร และจุดคุ้มอยู่ที่ใด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HR,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อัตราการลาออกสูงถึงระดับใดจึงเริ่มฉุดคุณภาพและอัตราการเข้าพัก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HR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ปี 2562–2569 เกิดอะไรขึ้น ธุรกิจฟื้นจากโควิดแล้วหรือยัง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สถานพยาบาลใดกำลังเสื่อมคุณภาพและมีแนวโน้มถูกลงโทษ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COO, กำกับกฎ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 Fact × Dim_Facility (SCD2)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ค่าปรับกระจุกตัวที่รัฐใดและช่วงเวลาใด รัฐใดบังคับใช้เข้มที่สุดต่อเตียง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กำกับกฎ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2 × Dim_Geography × 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เครือขนาดใหญ่ทำได้ดีกว่าจริง หรือแค่กดต้นทุนแรงงาน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Dim_Chain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413248"/>
            <a:ext cx="10874959" cy="786384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413248"/>
            <a:ext cx="50292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532120"/>
            <a:ext cx="104726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กำหนด 8 ข้อแทนที่จะเป็น 5 ข้อ เพราะคอลัมน์ขวาทำหน้าที่เป็น 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ข้อสอบของ schema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ไปด้วย — คำถามข้อใดที่ไม่มีตารางรองรับ แปลว่า schema ยังออกแบบไม่เสร็จ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ตัววัดผลการดำเนินงาน 10 ตัว (โจทย์กำหนดขั้นต่ำ 3 ตัว)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8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7550"/>
                <a:gridCol w="3287778"/>
                <a:gridCol w="1264530"/>
                <a:gridCol w="42151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Measure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วิธีคำนวณ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บวกได้ไหม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ความหมายและประโยชน์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M1 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SUM(avg_residents_per_day) / SUM(certified_beds)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 (อัตราส่วน)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ตัวขับรายได้หลัก ต่ำกว่า 80% มักแปลว่าขาดทุน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M2 Resident-days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avg_residents_per_day × จำนวนวันในงวด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ปริมาณการดูแลที่ขายได้จริง เป็นน้ำหนักของ M1, M3, M4 และตัวหารของ M9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M3 ชั่วโมงพยาบาล/คน/วัน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reported_total_nurse_hprd ถ่วงด้วย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ตัวแทนต้นทุนแรงงาน และตัวทำนายคุณภาพที่แรงที่สุดตัวเดียว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M4 อัตราลาออกพยาบาล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total_nursing_turnover_pct ถ่วงด้วย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ต้นทุนแฝงด้านสรรหาและฝึกอบรม เป็นสัญญาณเตือนคุณภาพล่วงหน้า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M5 มูลค่าค่าปรับ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SUM(fine_amount_usd)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ความเสี่ยงด้านกฎระเบียบที่แปลงเป็นตัวเงินแล้ว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M6 จำนวนครั้งที่ถูกลงโทษ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COUNT(*) บน 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อ่านคู่กับ M5 เพื่อแยก “ปรับบ่อยแต่เบา” ออกจาก “ปรับครั้งเดียวหนัก”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M7 คะแนนดาวเฉลี่ย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AVG(overall_rating) สเกล 1–5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 (อันดับ)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ตัวเลขที่ครอบครัวผู้ป่วยใช้เลือกจริง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M8 จำนวนข้อบกพร่อง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SUM(cycle1_total_deficiencies)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สัญญาณเชิงปฏิบัติการที่มาก่อนค่าปรับ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M9 ค่าปรับต่อ resident-day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M5 /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คำนวณตอน query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ทำให้เทียบความเสี่ยงข้ามสถานพยาบาลคนละขนาดได้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M10 เตียงต่อผู้สูงอายุ 1,000 คน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SUM(certified_beds) / (pop_65plus / 1000)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คำนวณตอน query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ความอิ่มตัวของตลาด ค่าต่ำแปลว่าอุปสงค์ยังไม่ถูกตอบ (BQ1)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614415"/>
            <a:ext cx="10874959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614415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733287"/>
            <a:ext cx="10472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M1–M8 เก็บอยู่ในตาราง Fact · M9 และ M10 คำนวณตอน query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ไม่มีอัตราส่วนตัวใดถูกเก็บเป็นคอลัมน์เลย โดยเจตนา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เหตุผลอยู่ในสไลด์ถัดไป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กับดักที่พบบ่อยที่สุดในงานคลังข้อมูล: การเฉลี่ยอัตราส่วน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 “บวกได้ไหม” ในสไลด์ก่อนหน้าไม่ใช่รายละเอียดทางทฤษฎี — มันคือสิ่งที่ตัดสินว่าแดชบอร์ดรวมยอดถูกหรือโกหกเงียบ 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สถานพยาบาลสองแห่ง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แห่งที่ 1 — 10 เตียง ผู้พักอาศัย 5 คน  →  </a:t>
            </a:r>
            <a:r>
              <a:rPr sz="12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แห่งที่ 2 — 200 เตียง ผู้พักอาศัย 180 คน  →  </a:t>
            </a:r>
            <a:r>
              <a:rPr sz="12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90%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AVG(occupancy)  =  (50 + 90) / 2  =  </a:t>
            </a:r>
            <a:r>
              <a:rPr sz="1350" b="1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70%</a:t>
            </a:r>
            <a:r>
              <a:rPr sz="1350" b="0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   ✗ ผิด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SUM(residents) / SUM(beds)  =  185 / 210  =  </a:t>
            </a:r>
            <a:r>
              <a:rPr sz="13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88.1%</a:t>
            </a:r>
            <a:r>
              <a:rPr sz="1350" b="0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   ✓ ถูก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1968" y="1481328"/>
            <a:ext cx="493135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719072"/>
            <a:ext cx="438271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และนี่ไม่ใช่ความกังวลในตำรา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วัดจริงบนคลังนี้ ทุกแถวรวมแถวที่ติดธงสงสัย สองวิธีให้คำตอบต่างกันทุกงวด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76288" y="2450592"/>
          <a:ext cx="4382718" cy="11338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8268"/>
                <a:gridCol w="1131024"/>
                <a:gridCol w="1555158"/>
                <a:gridCol w="848268"/>
              </a:tblGrid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SUM/SUM (ถูก)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AVG ของอัตราส่วน (ผิด)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ส่วนต่าง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2019-01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78.98%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80.69%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+1.72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2026-06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79.45%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80.27%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+0.82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2026-07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80.24%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81.25%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+1.00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8368" y="4023360"/>
            <a:ext cx="10874959" cy="19202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50292" cy="1920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47262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การป้องกันจึงเป็นเชิงโครงสร้าง ไม่ใช่การเตือนกันเอง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ตาราง Fact 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เก็บตัวตั้งกับตัวหารแยกกัน และไม่เก็บอัตราส่วนเป็นคอลัมน์เลย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เพราะการเก็บอัตราส่วนคือการเชิญชวนให้ใครสักคนเอาไปเฉลี่ย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view ชื่อ v_check_ratio_additivity คำนวณการเปรียบเทียบนี้ใหม่ทุกครั้งที่ build และแดชบอร์ดแสดงผลของมันบนแท็บคุณภาพข้อมูล — ทั้งสองตัวเลขหน้าตาเหมือนอัตราการเข้าพักทั้งคู่ และตัวที่ผิดนั้นผิดมากพอที่จะ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สลับอันดับรัฐได้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ซึ่งเปลี่ยนคำตอบของ BQ1 ทั้งข้อ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ส่วนที่ 02  ·  5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Data Warehouse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Design &amp; ETL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แหล่งข้อมูล · คุณภาพข้อมูล · Star Schema · Grain · ETL · การตรวจสอบ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ห้าแหล่งข้อมูล — สามแหล่งดึงอัตโนมัติผ่าน HTTP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2852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5465"/>
                <a:gridCol w="2708160"/>
                <a:gridCol w="2962051"/>
                <a:gridCol w="4739281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#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แหล่งข้อมูล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รูปแบบ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ให้อะไรกับโครงงาน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CMS Nursing Homes — snapshot ย้อนหลัง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ZIP หลายแฟ้ม 88 งวด (ใช้ 32) แต่ละงวดมี 20 CSV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แกนหลักของทุกอย่าง ข้อมูลผู้ให้บริการและค่าปรับทุกงวด — ทางเดียวที่จะได้ประวัติ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CMS Provider Data Catalog REST API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JSON ผ่าน HTTP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ค้นว่ามีงวดใดบ้าง ขนาดและวันที่ และใช้ตรวจงวดล่าสุดหลัง load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SNF Value-Based Purchasing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CSV รายปีงบประมาณ โครงสร้างต่างกันแต่ละปี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ตัวคูณจูงใจการจ่ายเงิน (extract แล้ว ยังไม่ได้ทำแบบจำลอง)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ประชากรอายุ 65 ปีขึ้นไป — U.S. Census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Nested JSON ผ่าน API ที่ต้องมีคีย์ พร้อมแฟ้ม CSV สำรอง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ด้านอุปสงค์ของ BQ1 และเป็นตัวหารของ M10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ตารางอ้างอิงของ CMS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CSV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คำอธิบายรหัสข้อบกพร่อง และค่าเฉลี่ยรายรัฐ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8056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โจทย์กำหนดอย่างน้อย 3 แหล่ง และอย่างน้อย 1 แหล่งต้องซับซ้อนกว่า CSV ตาราง —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ใช้ 5 แหล่ง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โดย S1 เป็นหลายแฟ้มหลายช่วงเวลา · S2 และ S4 เป็น API · และ S4 คืน nested JSON ที่ต้องประกอบจากตัวแปรช่วงอายุ 12 ตัวก่อนจึงจะมีความหมาย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1 · ชื่อไฟล์มีอย่างน้อยสามแบบ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ProviderInfo_Download.csv (2562) · NH_ProviderInfo_Jun2026.csv · 4pq5-n9py_2026-07-29_NH_ProviderInfo_Jul2026.csv → glob ธรรมดาจับได้บางงวดและพลาดงวดอื่นเงียบ ๆ จึงใช้ regex รายยุคเก็บไว้ที่เดียวใน config.FILE_PATTERNS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67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2 · บาง snapshot ไม่ครบ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งวด 2026-08-06 ขนาด 3.5 MB มีเพียง 4 แฟ้ม และไม่มีแฟ้มค่าปรับเลย โค้ดที่สมมติว่ามี 6 แฟ้มจะพัง หรือแย่กว่านั้นคือโหลดค่าปรับ 0 แถวโดยไม่บ่น จึงตรวจรายการแฟ้มของทุกงวดก่อนประมวลผล และแฟ้มที่ขาดจะข้ามเฉพาะ Fact ที่พึ่งมัน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806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806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3 · โครงสร้างคอลัมน์เปลี่ยนตามยุค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78 คอลัมน์ในปี 2562 เทียบกับ 99 คอลัมน์ในปี 2569 พร้อมการเปลี่ยนชื่อทั้งระบบ นี่คือปัญหาที่ใหญ่ที่สุดในแปดข้อ และถูกจัดการเป็นกฎ Q7 ในสไลด์ถัดไป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ปัญหาคุณภาพข้อมูล 8 ประเภท (โจทย์กำหนดขั้นต่ำ 3 ประเภท)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37444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123"/>
                <a:gridCol w="1721868"/>
                <a:gridCol w="5074980"/>
                <a:gridCol w="3624986"/>
              </a:tblGrid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ประเภทปัญหา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สิ่งที่พบจริงในข้อมูล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วิธีจัดการ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Mismatched keys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CCN เป็นรหัส 6 หลักที่มีศูนย์นำหน้า (015009) อ่านเป็นตัวเลขกลายเป็น 15009 แล้ว join หลุดโดยไม่มี error · ZIP ก็เป็นแบบเดียวกัน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อ่านทุกคอลัมน์เป็น str ก่อน แล้วแปลงเฉพาะที่เป็นตัวเลขจริง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Duplicate records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แฟ้มค่าปรับเป็นหน้าต่างหมุน 3 ปี ค่าปรับหนึ่งรายการจึงโผล่ซ้ำได้ถึง 36 งวด · Fine ID มีเฉพาะงวด 202606 ขึ้นไป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สองระบบคีย์ตามยุค — fine_id 14,162 · natural key 65,641 · 88.3% ของแถวดิบเป็นของซ้ำ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Null และรหัสเชิงอรรถ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ค่าที่ถูกปิดบังถูกเผยแพร่เป็นรหัสเชิงอรรถ ไม่ใช่ค่าว่าง จึงถูกเฉลี่ยราวกับเป็นข้อมูลจริง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ตัดออกจากตัวหาร ไม่แทนด้วยศูนย์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Invalid values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อัตราลาออกเกิน 100% (สูงสุด 1414%) · อัตราการเข้าพักเกิน 100% ก็มี แต่เป็นของจริงจากเตียงเสริม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ติดธง ไม่ลบ — 1,207 แถว (0.25%) ติด is_suspect และแดชบอร์ดมีสวิตช์ให้เลือก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Category ไม่สอดคล้อง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ชื่อสถานพยาบาลยุค 2562 พิมพ์ใหญ่เล็กไม่ตรงกัน ถ้าปล่อยไว้ราว 17% จะดูเหมือนเปลี่ยนชื่อ · เจ้าของมี 13 ประเภท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ทำชื่อเป็นตัวพิมพ์ใหญ่ · ยุบ 13 ประเภทเหลือ 3 กลุ่ม (เปลี่ยนประเภทราวครึ่ง แต่เปลี่ยนกลุ่มเพียง ~10%)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รูปแบบวันที่ไม่ตรงกัน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ทั้งสองปลายของช่วงใช้ YYYY-MM-DD ยังไม่พบความต่าง แต่มีอีกหลายงวดที่ยังไม่ได้เปิดดูทีละคอลัมน์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คง parser หลายรูปแบบไว้ · ให้คะแนนแต่ละรูปแบบกับทั้งคอลัมน์ ไม่ fallback ทีละแถว · ความกำกวมถูกบันทึก ไม่เดา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Schema drift ข้ามปี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ใหญ่ที่สุดในแปดข้อ — 78 คอลัมน์ปี 2562 เทียบ 99 คอลัมน์ปี 2569 พร้อมการเปลี่ยนชื่อทั้งระบบ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ตารางแม็ปคอลัมน์รายยุคใน columns.py อ้างอิงจากพจนานุกรมข้อมูลของ CMS โดยตรง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หน่วยวัดไม่ตรงกัน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ยุค 2569 เก็บอัตราลาออกเป็นเปอร์เซ็นต์ · ยุค 2562 ไม่มีคอลัมน์นี้เลย จึงเทียบข้ามยุคตรง ๆ 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ปรับหน่วยให้ตรงกันเท่าที่เทียบได้ · และประกาศว่า BQ4 เป็น cross-sectional ไม่ใช่ longitudinal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321808"/>
            <a:ext cx="5327751" cy="9144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21808"/>
            <a:ext cx="4572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431536"/>
            <a:ext cx="49437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นโยบายที่ 1 · ติดธง ไม่ลบ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แถวที่ไม่ผ่านกฎถูกทำเครื่องหมาย is_suspect แล้วเก็บไว้ ไม่ทิ้ง การลบทิ้งคือการซ่อนความบกพร่องจากคนที่จำเป็นต้องเห็นมันที่สุด และค่าผิดปกติบางตัวเป็นของจริง — แดชบอร์ดจึงเปิดสวิตช์ให้ผู้อ่านเลือกเอง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5575" y="5321808"/>
            <a:ext cx="5327751" cy="9144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5575" y="5321808"/>
            <a:ext cx="45720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5031" y="5431536"/>
            <a:ext cx="49437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นโยบายที่ 2 · ทุกกฎเขียนลงตาราง ไม่ใช่ console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กฎทั้งแปดข้อ append ลง etl_run_log ในคลัง — ตอนนี้ </a:t>
            </a:r>
            <a:r>
              <a:rPr sz="96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1,555 แถว จากกฎ 20 ชนิด</a:t>
            </a: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แท็บคุณภาพข้อมูลบนแดชบอร์ดอ่านตารางนั้นสด ๆ สิ่งที่รายงานอ้างกับสิ่งที่แดชบอร์ดแสดงจึงหลุดจากกันไม่ได้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WAREHOUSE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Star schema — 2 Fact Table และ 6 Dimension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ออกแบบตามสี่ขั้นของ Kimball · Dim ทั้งห้าตัวที่ขนาบอยู่เป็น conformed dimension ที่ Fact ทั้งสองใช้ร่วมกัน · Dim_Penalty_Type ใช้เฉพาะ Fact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4475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8191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date_key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full_date · year · quarter · month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year_month · us_fiscal_year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covid_period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0779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90779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4495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Dim_Geography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geography_key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zip_code · city · county_parish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state_code · state_name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census_region · urban_rural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37083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37083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50799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Dim_Ownership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ownership_key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ownership_type (13 ประเภท)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ownership_group (3 กลุ่ม)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is_for_profit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7" y="144475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79407" y="144475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5" y="158191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Dim_Facility  (SCD2)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facility_key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· provider_name · provider_type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special_focus_status · abuse_icon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effective_date · expiry_date · is_current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7" y="290779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407" y="290779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5" y="304495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Dim_Chain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chain_key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chain_id · chain_name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num_facilities_in_chain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chain_size_band · is_independent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7" y="437083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407" y="437083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5" y="450799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Dim_Penalty_Type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penalty_type_key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penalty_type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is_monetary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ใช้กับ Fact 2 เท่านั้น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8" y="1591056"/>
            <a:ext cx="397763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33088" y="1591056"/>
            <a:ext cx="3977639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6" y="1728216"/>
            <a:ext cx="3758183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Fact_Facility_Monthly   ·   periodic snapshot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Grain — สถานพยาบาลหนึ่งแห่ง (หนึ่ง CCN) ณ วันประมวลผลหนึ่งงวด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(snapshot_date_key, ccn)     DD ccn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FK snapshot_date_key · facility_key · geography_key · ownership_key · chain_key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— measures — certified_beds · avg_residents_per_day · resident_days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reported_total_nurse_hprd · reported_rn_hprd · total_nursing_turnover_pct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overall_rating · staffing_rating · health_inspection_rating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cycle1_total_deficiencies · is_suspect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8" y="3785616"/>
            <a:ext cx="397763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33088" y="3785616"/>
            <a:ext cx="3977639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3922776"/>
            <a:ext cx="3758183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Fact_Penalty_Event   ·   transaction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Grain — การลงโทษหนึ่งครั้งต่อสถานพยาบาลหนึ่งแห่งในวันหนึ่ง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penalty_event_key     DD ccn · fine_id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FK penalty_date_key · facility_key · geography_key · ownership_key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chain_key · penalty_type_key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— measures — fine_amount_usd · payment_denial_days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penalty_count (= 1) · fine_id_source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64408" y="2039112"/>
            <a:ext cx="868680" cy="7863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64408" y="2039112"/>
            <a:ext cx="868680" cy="227319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64408" y="2468880"/>
            <a:ext cx="868680" cy="1033272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64408" y="3502152"/>
            <a:ext cx="868680" cy="116128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264408" y="2820009"/>
            <a:ext cx="868680" cy="2145183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64408" y="4965192"/>
            <a:ext cx="868680" cy="49377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110727" y="2039112"/>
            <a:ext cx="868680" cy="113751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110727" y="2039112"/>
            <a:ext cx="868680" cy="2308311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110727" y="2574218"/>
            <a:ext cx="868680" cy="927934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110727" y="3502152"/>
            <a:ext cx="868680" cy="1266626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110727" y="4965192"/>
            <a:ext cx="868680" cy="260055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GRAIN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หนึ่งแถวของ Fact Table แปลว่าอะไร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17007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3535"/>
                <a:gridCol w="5112853"/>
                <a:gridCol w="3408569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Fact Table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หนึ่งแถวหมายถึง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ชนิด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สถานพยาบาลหนึ่งแห่ง (หนึ่ง CCN) ในสภาพที่เป็นอยู่ ณ วันที่ CMS ประมวลผลหนึ่งงวด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Periodic snapshot — มีแถวทุกงวดแม้ไม่มีอะไรเปลี่ยน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การลงโทษหนึ่งครั้ง (ค่าปรับ หรือการระงับการจ่ายเงิน) ต่อสถานพยาบาลหนึ่งแห่งในวันหนึ่ง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Transaction — ไม่มีเหตุการณ์ ก็ไม่มีแถว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32841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การมีสอง Fact ได้คะแนนพิเศษตามที่โจทย์เสนอไว้ แต่เหตุผลที่มีสองตัวคือ </a:t>
            </a:r>
            <a:r>
              <a:rPr sz="1150" b="1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grain ต่างกัน</a:t>
            </a:r>
            <a:r>
              <a:rPr sz="11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 ไม่ใช่คะแนน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21608"/>
            <a:ext cx="5300319" cy="233172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721608"/>
            <a:ext cx="50292" cy="2331720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840480"/>
            <a:ext cx="4897983" cy="2093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ทำไมสอง Fact นี้ห้ามรวมกัน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ทั้งคู่ตอบคำถามที่ grain ต่างกัน ถ้า JOIN ตรง ๆ ทีละแถว ฝั่ง snapshot จะถูกคูณด้วยจำนวนครั้งที่ถูกลงโทษ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วัดจริงบนคลังนี้ — เตียงที่ผ่านการรับรองของกลุ่ม for-profit พองจาก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1,203,047 เป็น 2,586,212 คือ 2.1 เท่า โดยไม่มี error ใด ๆ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ทุก measure ที่ข้าม Fact จึงรวมแต่ละฝั่งลงมาที่ระดับเดียวกันก่อน แล้วค่อยเชื่อมยอด เช่น view v_fines_per_resident_day ที่ลดทั้งสองฝั่งเหลือ (รัฐ, ปี) ก่อน FULL JOIN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721608"/>
            <a:ext cx="5300319" cy="2331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3721608"/>
            <a:ext cx="50292" cy="2331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3840480"/>
            <a:ext cx="4897983" cy="2093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ทำไม PK ของ Fact 1 คือ (snapshot_date_key, ccn) ไม่ใช่ facility_key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facility_key เป็น surrogate แบบ SCD2 สถานพยาบาลหนึ่งแห่งจึงเป็นเจ้าของค่านี้หลายค่า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คีย์ที่สร้างบน facility_key จะยอมรับ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สองแถวของสถานพยาบาลเดียวกันในงวดเดียวกัน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ได้อย่างถูกกฎ ตราบใดที่มีเส้นแบ่งเวอร์ชันคั่นอยู่ตรงกลาง — ซึ่งคือแถวซ้ำที่ grain ห้ามไว้พอดี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คือตัวตนที่รอดจากการทำเวอร์ชัน จึงถูกเก็บไว้ในตาราง Fact เองในฐานะ degenerate dimension และใช้เป็นส่วนหนึ่งของคีย์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สิ่งที่สร้างได้จริง — อ่านออกมาจาก eldercare.duckdb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6903718" cy="3771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6095"/>
                <a:gridCol w="954769"/>
                <a:gridCol w="4112854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ตาราง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จำนวนแถว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หมายเหตุ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24,838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1960-01-01 ถึง 2027-12-31 พร้อมแถว date_key = -1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Dim_Facility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55,425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16,155 สถานพยาบาล เก็บประวัติแบบ SCD2 · เวอร์ชันปัจจุบัน 16,154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Dim_Geography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9,747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grain (ZIP, เมือง, รัฐ) · ครอบคลุม 54 รัฐและดินแดน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Dim_Ownership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13 ประเภท ยุบเหลือ 3 กลุ่ม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Dim_Chain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714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712 เครือ บวก Independent (ไม่สังกัดเครือ) และ Unknown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Dim_Penalty_Type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Fine · Payment Denial · Unknown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483,183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32 งวด (2562-01 → 2569-07) · 1,207 แถวติดธง is_suspect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79,803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 70,566 ครั้ง รวม $1,616,747,274 · ระงับการจ่ายเงิน 9,237 ครั้ง 280,604 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Ref_State_Population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255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grain (รัฐ, ปี) — เจตนาไม่เก็บไว้บน Dim_Geography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etl_run_log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1,555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ผลของกฎคุณภาพทุกข้อ · 20 ชนิดกฎ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36408" y="1481328"/>
            <a:ext cx="3696919" cy="144475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36408" y="1481328"/>
            <a:ext cx="50292" cy="14447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600200"/>
            <a:ext cx="32945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ทุก Dimension มีแถว key = -1 “Unknown”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เพื่อไม่ให้ Fact ถือ foreign key ที่เป็น null — null จะทำให้แถวหายเงียบ ๆ ตอน join · Dim_Chain แยก “ไม่สังกัดเครือ” (key = 0) ออกจาก “ไม่ทราบ” (−1) เพราะปี 2562 ไม่มีคอลัมน์เครือเลย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7836408" y="3072384"/>
            <a:ext cx="3696919" cy="192024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36408" y="3072384"/>
            <a:ext cx="50292" cy="19202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191256"/>
            <a:ext cx="329458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Slowly Changing Dimension แบบที่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Dim_Facility เก็บประวัติด้วย effective_date / expiry_date / is_current · เพราะ facility_key ไม่ได้เป็นหนึ่งต่อหนึ่งกับ ccn ทุก join จาก Fact มาที่ Dimension นี้ต้องเลือกเวอร์ชันที่ช่วงเวลาครอบคลุมวันที่ของ fact — กฎนี้อยู่ในฟังก์ชันเดียวคือ facts.lookup_facility_key() และไม่เคยถูกเขียนซ้ำแบบ inline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5138928"/>
            <a:ext cx="3696919" cy="1133856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36408" y="5138928"/>
            <a:ext cx="50292" cy="11338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5257800"/>
            <a:ext cx="3294583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Semantic layer — 10 views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views.sql นิยาม M1–M10 ไว้ที่เดียว แดชบอร์ด query view ไม่ใช่ตาราง Fact เพราะสามในสิบตัวจะให้คำตอบที่ผิดแบบดูน่าเชื่อถ้าคำนวณตรง 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ETL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Extract → Clean → Transform → Integrate →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ทั้งกระบวนการเป็นคำสั่งห้าบรรทัด และไม่ต้องแก้ข้อมูลด้วยมือในขั้นตอนใดเลย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527048"/>
            <a:ext cx="2043318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Extract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fetch_snapshots.py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72454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ไล่รายการ 88 งวดผ่าน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ดาวน์โหลดแบบ incremental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แตกเฉพาะ 6 CSV ที่ใช้จริง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627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29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Clean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clean.py · columns.py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3245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627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429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กฎ Q1, Q3, Q5, Q6, Q7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แม็ปคอลัมน์รายยุค 78 → 99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รหัสเชิงอรรถออกจากตัวหาร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18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20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Transform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dimensions.py · facts.py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14036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18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20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6 Dimension รวม SCD2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2 Fact + กฎ Q2, Q4, Q8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คำนวณ M1–M8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209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011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Integrate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sources.py · population.py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34827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209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011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กระทบยอดงวดที่เผยแพร่ซ้ำ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เชื่อมด้วย ccn ทุกจุด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ต่อประชากร 65+ ที่ (รัฐ, ปี)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90008" y="1527048"/>
            <a:ext cx="2043318" cy="8412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802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load.py · build_warehouse.py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000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802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ตรวจ PK/FK/SCD2 ก่อนเขียน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สร้างตารางใหม่จาก schema.sql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ใส่ข้อมูลผ่าน constraint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785616"/>
            <a:ext cx="5300319" cy="138988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785616"/>
            <a:ext cx="50292" cy="13898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904488"/>
            <a:ext cx="4897983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แต่ละแหล่งถูกนำเข้าอย่างไร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fetch_snapshots.py เรียก archive API ซึ่งคืน 96 รายการ — 88 รายการเป็นงวดจริง และ 8 รายการเป็นชุดรายปีที่ซ้ำกับงวดจริง เก็บเฉพาะแบบแรก · ดาวน์โหลดแบบ incremental (งวดที่มีบนดิสก์แล้วจะถูกข้าม) และแตกเฉพาะ 6 CSV ที่ใช้จริง · ประชากรมาจาก population.py ที่เลือก Census ACS API เมื่อมี CENSUS_API_KEY และตกไปใช้แฟ้มสำรองเมื่อไม่มี — ทั้งสองทางลงเอยที่รูปร่างเดียวกัน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3785616"/>
            <a:ext cx="5300319" cy="138988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3785616"/>
            <a:ext cx="50292" cy="13898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3904488"/>
            <a:ext cx="4897983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หลายแหล่งถูกเชื่อมกันอย่างไร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เป็นคีย์เชื่อมตลอดสาย ซึ่งเป็นเหตุผลที่กฎศูนย์นำหน้า (Q1) ต้องบังคับตั้งแต่ตอนอ่าน ไม่ใช่มาแก้ทีหลัง · Fact เชื่อมกับ Dim_Facility ผ่านการค้นหาแบบ SCD2 · งวด 2026-07-29 และ 2026-08-06 ใช้วันประมวลผลเดียวกัน ถ้าไม่กระทบยอด PK ของ Fact 1 จะชนกันทันที · ประชากรเชื่อมที่ระดับ (รัฐ, ปี) และเจตนาไม่เขียนลง Dim_Geography เพราะตารางนั้น grain เป็น ZIP — SUM เผลอ ๆ จะคูณ Texas ด้วยจำนวน ZIP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035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เครื่องมือ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Python 3 + pandas สำหรับการแปลงข้อมูลทั้งหมด · DuckDB เป็นคลังแบบไฟล์เดียว · Streamlit + matplotlib/Plotly สำหรับแดชบอร์ด ·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รันซ้ำได้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dimension ถูกสร้างใหม่ทั้งหมดทุกครั้ง ไม่มีสถานะค้างข้ามรอบ และสาม build ติดกันให้ผลเหมือนกัน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ตรวจสอบความถูกต้องสามระดับ: ก่อน · ระหว่าง · หลัง 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51525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ก่อน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load.py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ตรวจ primary key, foreign key และช่วงเวลาของ SCD2 บน DataFrame ที่ยังอยู่ในหน่วยความจำ ปัญหาถูกจับก่อนที่จะมีอะไรถูกเขียนลงคลัง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8218" y="1481328"/>
            <a:ext cx="3515258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767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ระหว่าง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build_warehouse.py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คัดลอกแต่ละตารางออกไป สร้างใหม่จาก schema.sql พร้อม key / uniqueness / CHECK แล้วใส่ข้อมูลกลับผ่านข้อจำกัดเหล่านั้น — </a:t>
            </a:r>
            <a:r>
              <a:rPr sz="10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 insert เองคือการทดสอบ</a:t>
            </a: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ไม่ใช่คำประกาศว่าทดสอบแล้ว แถวเสียทำให้ run ล้มและคืนสถานะเดิม (ทดสอบแล้วว่ากัดจริง: facility_key = 88888888 ถูกปฏิเสธเป็น FK violation และ overall_rating = 9 เป็น CHECK violation)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806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1481328"/>
            <a:ext cx="3515258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752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หลัง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ชุดตรวจ 4 ชุด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query คลังด้วย SQL ที่เขียนแยกจากโค้ดที่สร้างข้อมูล — ถ้าใช้โค้ดเดียวกันตรวจตัวเอง ความผิดพลาดเดียวกันจะผ่านทั้งสองฝั่ง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3547871"/>
          <a:ext cx="5806438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6204"/>
                <a:gridCol w="3540512"/>
                <a:gridCol w="84972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ชุดตรวจ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ตรวจอะไร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verify_dims.py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Dimension ทั้งหก รวมความสมบูรณ์ของ SCD2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 / 24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verify_facts.py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ทั้งสอง รวมการกระทบยอดกับ CMS และการอ่านครบทุกแฟ้ม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 / 24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verify_dashboard.py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measure บนแดชบอร์ดเทียบกับ view ในคลัง ที่ความละเอียด 1e-9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56 / 56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test_dashboard.py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รันแอปจริงภายใต้ชุดตัวกรอง 11 แบบ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11 / 11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739128" y="3547871"/>
            <a:ext cx="4794199" cy="192024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9128" y="3547871"/>
            <a:ext cx="50292" cy="19202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3666743"/>
            <a:ext cx="439186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หลักฐานที่แข็งที่สุดไม่ใช่ชุดตรวจเหล่านี้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ชุดตรวจที่เขียนโดยคนกลุ่มเดียวกับ pipeline อาจเห็นด้วยกันแล้วผิดทั้งคู่ได้ หลักฐานที่แข็งกว่าคือการกระทบยอดกับตัวเลขที่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คำนวณขึ้นเองอย่างเป็นอิสระ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จำกัด Fact_Penalty_Event ให้เหลือเฉพาะค่าปรับที่อยู่ในแฟ้มงวด มิ.ย. 2569 แล้วรวมยอดรายสถานพยาบาล ได้ตรงกับคอลัมน์ Total Amount of Fines in Dollars ของ CMS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ครบ 6,563 จาก 6,563 แห่ง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32702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การกำจัดของซ้ำก็ถูกวัดเช่นกัน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32 แฟ้มค่าปรับที่แตกออกมา ถูกอ่านครบทั้ง 32 แฟ้ม รวม 680,900 แถวดิบ เหลือ 79,803 เหตุการณ์ แปลว่า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88.3% ของแถวดิบเป็นของซ้ำ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ซึ่งเป็นสิ่งที่หน้าต่างหมุน 3 ปีต้องให้ผลออกมาแบบนั้นพอดี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ส่วนที่ 03  ·  5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&amp; Business Insights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สาธิตแดชบอร์ด · คำตอบ BQ1–BQ8 · ข้อเสนอแนะ · การใช้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แดชบอร์ด Streamlit ที่อ่านคลังแบบ read-only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420624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3744"/>
                <a:gridCol w="841248"/>
                <a:gridCol w="84124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ข้อกำหนดของโจทย์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ขั้นต่ำ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ทำได้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Measures สรุปผลประกอบการ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10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กราฟ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การวิเคราะห์ตามช่วงเวลา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การเปรียบเทียบข้อมูล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Filter / Interactive control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Insight และข้อเสนอแนะ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2428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verify_dashboard.py </a:t>
            </a:r>
            <a:r>
              <a:rPr sz="1000" b="1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นับตัวเลขคอลัมน์ขวาจากโค้ดจริง</a:t>
            </a: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 ไม่ใช่จากความจำ ตารางนี้จึงล้าสมัยเงียบ ๆ ไม่ได้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6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แท็บทั้งเจ็ด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ภาพรวม · ตลาด (BQ1) · ผู้ประกอบการ (BQ2, BQ8) · กำลังคน (BQ3, BQ4) · แนวโน้ม (BQ5) · ความเสี่ยง (BQ6, BQ7) · ข้อเสนอแนะ  และแท็บคุณภาพข้อมูลที่อ่าน etl_run_log สด 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Insight ถูกคำนวณตอน render ไม่ได้เขียนฝังไว้ในหน้า</a:t>
            </a: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ข้อความกับกราฟอ่านตัวเลขชุดเดียวกันใน request เดียวกัน จึงขัดกันเองไม่ได้ และการขยับตัวกรองจะคำนวณข้อสรุปใหม่ทั้งหมด</a:t>
            </a:r>
          </a:p>
        </p:txBody>
      </p:sp>
      <p:pic>
        <p:nvPicPr>
          <p:cNvPr id="8" name="Picture 7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3095"/>
            <a:ext cx="6348679" cy="453477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INTERACTIVE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ตัวกรองห้ารายการ — ทุกกราฟและทุก measure คำนวณใหม่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8_filtered_IL_for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55" y="1481328"/>
            <a:ext cx="4352544" cy="310896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pic>
        <p:nvPicPr>
          <p:cNvPr id="6" name="Picture 5" descr="09_filtered_watch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94" y="1481328"/>
            <a:ext cx="4352544" cy="310896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4681728"/>
            <a:ext cx="5300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กรองรัฐ = IL และกลุ่มเจ้าของ = For profit — ตัวเลขบนแถบ measure ขยับทั้งแถบ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4681728"/>
            <a:ext cx="5300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แท็บความเสี่ยง (BQ6) หลังกรองเหลือเฉพาะรายชื่อเฝ้าระวัง พร้อมปุ่มดาวน์โหลดเป็น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5300319" cy="1060704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50292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57800"/>
            <a:ext cx="4897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ตัวควบคุมที่มี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งวดข้อมูล · รัฐ · กลุ่มเจ้าของ · ขนาดเครือ · สวิตช์รวม/ไม่รวมแถวที่ติดธงสงสัย และมีตัวควบคุมเฉพาะแท็บอีกห้ารายการ เช่น เกณฑ์คะแนนเสี่ยงและจำนวนรัฐที่แสดง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5138928"/>
            <a:ext cx="5300319" cy="1060704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5138928"/>
            <a:ext cx="50292" cy="10607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5257800"/>
            <a:ext cx="4897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ภาพนี้อ้างการโต้ตอบที่ไม่เคยเกิดไม่ได้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make_screenshots.py อ่านค่า measure หัวตาราง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ก่อนและหลัง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ใส่ตัวกรอง แล้วปฏิเสธที่จะบันทึกภาพถ้าค่านั้นไม่ขยับ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BQ1 · ตลาด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รัฐใดน่าเข้าไปลงทุนที่สุด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New Mexico · Virginia · South Carolina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สามรัฐนี้ครบทั้งสามเงื่อนไขพร้อมกัน — อุปทานต่ำกว่าค่าเฉลี่ยประเทศ อัตราการเข้าพักสูงกว่าค่าเฉลี่ย และคะแนนคู่แข่งต่ำกว่า 3.00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New Mexico: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16.1 เตียง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ต่อผู้สูงอายุ 1,000 คน · เข้าพัก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83.4%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· คู่แข่ง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2.85 ดาว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เทียบระดับประเทศ 25.6 เตียง · 80.2% · 2.99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ควรเลี่ยง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Arkansas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(42.9 เตียง เข้าพัก 70.3%)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Indiana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(40.3 · 75.2%)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Iowa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(41.1 · 80.3%) — ตลาดล้นแล้ว การเพิ่มเตียงคือการแย่งผู้พักอาศัยจากบ้านที่มีอยู่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Guam และ Puerto Rico ไม่ได้คะแนน เพราะไม่มีข้อมูลประชากร 65+ — ปล่อยว่างไว้ดีกว่าใส่ค่าประมาณแล้วให้ติดอันดับปลอม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312664"/>
            <a:ext cx="4709160" cy="96012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312664"/>
            <a:ext cx="5029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431536"/>
            <a:ext cx="430682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ชอร์ตลิสต์สามรัฐแรกไว้ก่อน และอ่านคู่กับ BQ5 เสมอ — การตัดสินใจเรื่องกำลังการผลิตต้องดูอุปสงค์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รายรัฐ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ไม่ใช่ตัวเลขรวมของทั้งประเทศ</a:t>
            </a:r>
          </a:p>
        </p:txBody>
      </p:sp>
      <p:pic>
        <p:nvPicPr>
          <p:cNvPr id="11" name="Picture 10" descr="bq1_marke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53489"/>
            <a:ext cx="5891479" cy="424713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BQ2 + BQ8 · ผู้ประกอบการ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รูปแบบการถือครองและขนาดเครือให้ผลต่างกันอย่างไร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For-profit ต่ำกว่าทุกมิติคุณภาพ · ขนาดเครือซื้ออัตราการเข้าพัก ไม่ได้ซื้อคุณภาพ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BQ2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ดาวเฉลี่ย 2.80 / 3.57 / 3.28 · ชม.พยาบาล 3.62 / 4.21 / 4.17 · ค่าปรับต่อเตียง $337 / $216 / $228 (for-profit / non-profit / government)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ค่าปรับต่อเตียงของ for-profit สูงกว่า non-profit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1.56 เท่า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และช่องว่างดาว 0.77 เดินคู่ไปกับชั่วโมงพยาบาลที่น้อยกว่า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16%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เสมอ ไม่ได้แยกจากกัน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BQ8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อิสระ 4.09 ชม. เทียบเครือ 50+ แห่ง 3.53 ชม. (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−13.8%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) ดาวต่ำกว่า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0.32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ลาออกสูงกว่า 4.6 จุด — แต่อัตราการเข้าพักสูงกว่า 1.6 จุด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คุมตัวแปรเจ้าของแล้วยังจริง: ชั่วโมงพยาบาลลดลง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ทุกขั้น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ตามขนาดเครือ ในทั้งสามกลุ่ม (for-profit 3.75→3.54 · non-profit 4.38→3.47 · government 4.56→3.34) ขนาดเครือจึงมีผลที่รูปแบบการถือครองอธิบายไม่ได้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129784"/>
            <a:ext cx="4709160" cy="1143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129784"/>
            <a:ext cx="5029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248656"/>
            <a:ext cx="43068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ในดีลซื้อกิจการ ให้ตั้งราคาความเสี่ยงของ for-profit เป็นปัจจัยที่ต้องจ่าย ไม่ใช่คุณลักษณะที่เป็นกลาง · อย่าจ่ายพรีเมียมด้าน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คุณภาพ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ให้ขนาดเครือ ให้จ่ายตามข้อได้เปรียบด้านอัตราการเข้าพัก แล้วกันงบชั่วโมงพยาบาลไว้ต่างหาก</a:t>
            </a:r>
          </a:p>
        </p:txBody>
      </p:sp>
      <p:pic>
        <p:nvPicPr>
          <p:cNvPr id="11" name="Picture 10" descr="bq2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305782"/>
            <a:ext cx="5891479" cy="3142548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BQ3 · กำลังคน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ชั่วโมงพยาบาลกับคุณภาพและค่าปรับ จุดคุ้มอยู่ที่ใด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จุดคุ้มอยู่ที่ 3.48 ชม./คน/วัน ซึ่งตรงกับเกณฑ์ขั้นต่ำของ CMS พอดี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ต่ำกว่า 3.48 ชม. ค่าปรับต่อเตียง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$404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เทียบกับ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$268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เมื่อถึงเกณฑ์ — สูงกว่า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1.51 เท่า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· และเคยถูกปรับ 52.6% เทียบกับ 39.7%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มีสองจุดคุ้ม ไม่ใช่จุดเดียว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เหนือราว 3.75 ชม. เส้นค่าปรับแบนแล้ว ($289 → $264 → $283) ชั่วโมงที่เพิ่มยังซื้อดาวได้ แต่ไม่ซื้อการลดความเสี่ยงอีกต่อไป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กับดักที่ปิดไปแล้ว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CMS เอาชั่วโมงพยาบาลไปคิดเป็นดาวด้านการจัดพยาบาล ซึ่งเป็นองค์ประกอบของคะแนนรวมอยู่แล้ว การพล็อตชั่วโมงกับคะแนนรวมจึงเป็นวงกลมบางส่วน → ข้อสรุปทั้งหมดจึงยืนบน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ดาวการตรวจสุขภาพ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(ผู้ตรวจให้คะแนนหน้างาน ไม่มีชั่วโมงในสูตร) และ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ค่าปรับ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แทน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ความชันยังอยู่ครบเมื่อคุมตัวแปรกลุ่มเจ้าของทั้งสามกลุ่ม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312664"/>
            <a:ext cx="4709160" cy="96012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312664"/>
            <a:ext cx="5029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431536"/>
            <a:ext cx="430682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5,134 แห่ง (36%)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ยังอยู่ต่ำกว่าเกณฑ์ — งบกำลังคนก้อนถัดไปเป็นของพวกเขา ไม่ใช่การเติมชั่วโมงให้บ้านที่ผ่านเกณฑ์ไปแล้ว</a:t>
            </a:r>
          </a:p>
        </p:txBody>
      </p:sp>
      <p:pic>
        <p:nvPicPr>
          <p:cNvPr id="11" name="Picture 10" descr="bq3_staffing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540855"/>
            <a:ext cx="5891479" cy="4672402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BQ4 · กำลังคน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อัตราการลาออกสูงแค่ไหนจึงเริ่มฉุดธุรกิจ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มีสองเส้น และคนละคนใช้คนละเส้น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คุณภาพไม่มีระดับปลอดภัย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คะแนนดาวลดตั้งแต่แบนด์แรกสุดและลดต่อเนื่อง ทุก 5 จุดของอัตราลาออกแลกไปราว 0.2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อัตราการเข้าพักหักที่ 40%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ต่ำกว่านั้นทรงตัวราว 83.5% แล้วเสีย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1.57 จุด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ทันทีในช่วง 40–45% และพังที่ 65% ขึ้นไป เหลือ 71.7% (ค่าเฉลี่ยประเทศอยู่ที่ 44.7%)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การลาออกไม่ใช่แค่เงาของการจัดพยาบาลบาง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ในควอไทล์ที่จัดพยาบาลดีที่สุด การขยับจากลาออก &lt;40% ไป 60%+ ยังทำคะแนนตก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1.34 ดาว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(4.15 → 2.81) ซึ่ง*มากกว่า*ช่วงห่างเดียวกันในควอไทล์ที่บางที่สุด → เป็นคานงัดอิสระ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ข้อจำกัด: คอลัมน์อัตราลาออกมีเฉพาะยุค 2569 ข้อสรุปข้อนี้จึงเป็น cross-sectional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221224"/>
            <a:ext cx="4709160" cy="105156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221224"/>
            <a:ext cx="5029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340096"/>
            <a:ext cx="4306824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ฝ่ายบุคคลควรถือว่าอัตราลาออกทุกระดับเหนือศูนย์คุ้มที่จะแก้ ส่วน CFO ควรป้องเส้น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40%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เพราะนั่นคือจุดที่เงินอยู่ · โปรแกรมรักษาคนถูกกว่าการจ้างเพิ่มถาวร และหลักฐานบอกว่าได้ผลอย่างอิสระ</a:t>
            </a:r>
          </a:p>
        </p:txBody>
      </p:sp>
      <p:pic>
        <p:nvPicPr>
          <p:cNvPr id="11" name="Picture 10" descr="bq4_turnover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406" y="1481328"/>
            <a:ext cx="5354362" cy="4791456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BQ5 · แนวโน้ม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ปี 2562–2569 ธุรกิจฟื้นจากโควิดแล้วหรือยัง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ฟื้นเต็มด้านการเข้าพักแล้ว แต่ใช้เวลาห้าปี — ส่วนคุณภาพยังไม่ฟื้น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487168"/>
          <a:ext cx="5120637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1008"/>
                <a:gridCol w="1259173"/>
                <a:gridCol w="1175228"/>
                <a:gridCol w="1175228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ก่อนโควิด ก.ค. 62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ก้นเหว ก.ค. 64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ปัจจุบัน ก.ค. 69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80.7%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67.4%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ผู้พักอาศัย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1,327,186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1,096,242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1,256,235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ชม.พยาบาล/คน/วัน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3.74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3.93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3.75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คะแนนดาวเฉลี่ย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3.09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3.22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2.99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3986784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เตียงลดเพียง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5.1%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แต่ผู้พักอาศัยลด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17.4%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แล้วกลับมา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14.6%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ตัวตั้งเป็นตัวที่เคลื่อน ไม่ใช่ตัวหาร การฟื้นจึงเป็นอุปสงค์ที่กลับมาจริง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ชั่วโมงพยาบาลพุ่งเป็น 3.93 ตอนก้นเหว เพราะผู้พักอาศัยออกเร็วกว่าพนักงาน แล้วดิ่งเหลือ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3.61 ในปี 2566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ซึ่งคือวิกฤตขาดแคลนพยาบาลจริง — ปัจจุบันกลับมา 3.75 เท่าปี 2562 พอดี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ข้อบกพร่องเพิ่มจาก 7.5 เป็น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9.2 ต่อแห่ง (+23.7%)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047488"/>
            <a:ext cx="5120640" cy="1225296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047488"/>
            <a:ext cx="50292" cy="1225296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471830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ข้อนี้แก้คำตอบเดิม และนี่คือบทเรียนของโครงงาน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ตอนที่คลังมีแค่ 4 งวด เราสรุปว่า “อัตราการเข้าพักฟื้นเพราะบ้านว่างปิดตัวไป” — </a:t>
            </a:r>
            <a:r>
              <a:rPr sz="98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สรุปนั้นผิด</a:t>
            </a:r>
            <a:r>
              <a:rPr sz="9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เพราะการเทียบสองปลายบังคับให้ต้องเดากลไกตรงกลาง ปลายทั้งสองบังเอิญใกล้กัน (79.8% กับ 80.2%) จนดูเหมือนแทบไม่มีอะไรเกิดขึ้น ทั้งที่ระหว่างนั้นมีการดิ่ง 13 จุดและการฟื้นห้าปี </a:t>
            </a:r>
            <a:r>
              <a:rPr sz="98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ข้อมูลน้อยจุดไม่ได้ทำให้คำตอบกว้างขึ้น มันทำให้คำตอบผิดได้</a:t>
            </a:r>
          </a:p>
        </p:txBody>
      </p:sp>
      <p:pic>
        <p:nvPicPr>
          <p:cNvPr id="12" name="Picture 11" descr="bq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320" y="1481328"/>
            <a:ext cx="4360014" cy="4791456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BQ6 + BQ7 · ความเสี่ยง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แห่งใดกำลังเสื่อม และค่าปรับกระจุกตัวที่ใด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q6_risk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76" y="1481328"/>
            <a:ext cx="4739014" cy="261518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pic>
        <p:nvPicPr>
          <p:cNvPr id="6" name="Picture 5" descr="bq7_fines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200" y="1481328"/>
            <a:ext cx="3818220" cy="261518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4206240"/>
            <a:ext cx="528203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BQ6 — คะแนนเสี่ยง 5 องค์ประกอบ ผ่านการทดสอบย้อนหลัง 4 ปี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ให้คะแนนจากงวด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ม.ค. 2562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แล้วไปดูผลจริงปี 2566–2569 คะแนนไม่เคยเห็นผลลัพธ์เหล่านั้น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คะแนน 0 → ถูกปรับ 37.1% · $204/เตียง ·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3.45 ดาว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  ·   คะแนน 6 → ถูกปรับ 62.5% · $530/เตียง ·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2.21 ดาว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ขึ้นทุกขั้นในทุกคอลัมน์ผลลัพธ์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กลุ่มเสี่ยงสูง (คะแนน ≥5) ถูกปรับ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1.30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และจ่ายค่าปรับต่อเตียง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1.56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ของฐาน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สิ่งที่สำคัญกว่าตัวคูณ: บ้านที่เสี่ยงสูงในปี 2562 ยังได้เพียง 2.21 ดาวหลังผ่านไปเจ็ดปี —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ความเสี่ยงคงทน ไม่ใช่เรื่องชั่วคราว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1295" y="4206240"/>
            <a:ext cx="528203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BQ7 — การบังคับใช้กลับทิศสองครั้ง ไม่ใช่แนวโน้มเดียว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ปี 2562 ปรับ 3,126 ครั้ง เฉลี่ย $36,773 → ปี 2564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17,370 ครั้ง เฉลี่ย $12,189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(ถี่ขึ้น 5.5 เท่า เบาลง 3 เท่า — คลื่นคุมการติดเชื้อ) → ปี 2568 กลับมา 3,894 ครั้ง เฉลี่ย $40,376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ปี 2566 จึงเป็น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ขาขึ้นของการกลับสู่ภาวะปกติ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ไม่ใช่จุดเริ่มของแนวโน้มใหม่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รายรัฐต่างกัน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เกือบ 15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ใต้กฎกลางชุดเดียวกัน — VT $1,185/เตียง · IL $935 (และใหญ่ที่สุด $79.5M) · NH $81 · ระดับประเทศ $317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 รัฐ (IL, TX, CA, OH, FL) กินค่าปรับ 43.0%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บนเตียงเพียง 31.8%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ข้อเสนอแนะทางธุรกิจ 8 ข้อ (โจทย์กำหนดขั้นต่ำ 5 ข้อ)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หนึ่งข้อต่อหนึ่งคำถาม ทุกข้อผูกกับตัวเลขบนแดชบอร์ด และถูกคำนวณใหม่เมื่อผู้ใช้ขยับตัวกรอง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020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ชอร์ตลิสต์ New Mexico, Virginia, South Carolina และเลี่ยง Arkansas, Indiana, Iowa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อุปทานต่ำ + เข้าพักสูง + คู่แข่งอ่อน ครบพร้อมกันทั้งสามรัฐแรก ส่วนสามรัฐหลังคือตลาดที่เตียงล้นแล้ว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48132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48132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031" y="16093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247" y="160020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ตั้งราคาความเสี่ยงของ for-profit ในดีลซื้อกิจการ ไม่ถือเป็นคุณลักษณะที่เป็นกลาง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ค่าปรับต่อเตียงสูงกว่า non-profit 1.56 เท่า และช่องว่างดาว 0.77 มาพร้อมชั่วโมงพยาบาลที่น้อยกว่า 16%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2374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2374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5175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64261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งบกำลังคนก้อนถัดไปให้ 5,134 แห่งที่ยังต่ำกว่า 3.48 ชม. ไม่ใช่บ้านที่ผ่านเกณฑ์แล้ว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ใต้เส้นค่าปรับสูงกว่า 1.51 เท่า แต่เหนือ 3.75 เส้นค่าปรับแบน เงินก้อนเดียวกันซื้อการลดความเสี่ยงไม่ได้อีก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252374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52374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265175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264261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HR โจมตีการลาออกทุกระดับ · CFO ป้องเส้น 40% ซึ่งเป็นจุดที่เงินอยู่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คุณภาพไม่มีระดับปลอดภัย แต่อัตราการเข้าพักหักที่ 40% พอดี และการรักษาคนเป็นคานงัดอิสระจากการจ้างเพิ่ม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6615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6615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69417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68503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อย่าอ่านอัตราการเข้าพักที่ฟื้นว่าเป็นสัญญาณให้สร้างเตียงใหม่ทั่วประเทศ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อุปสงค์กลับมาจริง แต่ผู้พักอาศัยยังต่ำกว่ายอดเดิม 5.3% และคุณภาพยังไม่ฟื้น ตัดสินใจที่ระดับรัฐ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3863" y="356615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3863" y="356615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5031" y="369417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247" y="368503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การซื้อกิจการที่ติดธงต้องแนบงบพลิกฟื้นมาด้วย ไม่ใช่หวังว่าจะดีขึ้นเอง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บ้านที่เสี่ยงสูงในปี 2562 ยังได้เพียง 2.21 ดาวในปี 2569 — ความเสี่ยงคงทนข้ามเจ็ดปี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0857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60857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73658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72744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ถ่วงงบกำกับกฎระเบียบตามรัฐ ไม่ใช่ตามจำนวนสถานพยาบาล และวางแผนรับเหตุการณ์ใหญ่จำนวนน้อย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รายรัฐต่างกันเกือบ 15 เท่าใต้กฎกลางชุดเดียวกัน และ 5 รัฐกินค่าปรับ 43.0% บนเตียงเพียง 31.8%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3863" y="460857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3863" y="460857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5031" y="473658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0247" y="472744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อย่าจ่ายพรีเมียมด้านคุณภาพให้ขนาดเครือ — จ่ายตามข้อได้เปรียบด้านอัตราการเข้าพัก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เครือ 50+ แห่งได้เข้าพักสูงกว่า 1.6 จุด แต่ชั่วโมงพยาบาลน้อยกว่า 13.8% และดาวต่ำกว่า 0.32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ใช้ AI อย่างไร และตรวจว่าผลลัพธ์ถูกต้องอย่างไร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บันทึกไว้ใน 05_AI_Usage_Log/AI_Usage_Log.md — ปัจจุบัน 18 รายการ จากขั้นต่ำที่โจทย์กำหนด 5 รายการ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300319" cy="153619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50292" cy="15361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4897983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อะไรนับว่า “ตรวจแล้ว”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รันคำสั่งแล้วเทียบกับค่าที่รู้คำตอบอยู่ก่อน · เปิดแฟ้มข้อมูลจริงแล้วนับแถวเอง · เทียบกับพจนานุกรมข้อมูลของ CMS · หรือให้สมาชิกอีกคนอ่านงานแล้วอธิบายกลับมาได้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481328"/>
            <a:ext cx="5300319" cy="1536192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481328"/>
            <a:ext cx="50292" cy="1536192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1600200"/>
            <a:ext cx="4897983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อะไรไม่นับ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“อ่านแล้วดูสมเหตุสมผล” · “AI บอกว่ามั่นใจ” · “ถามซ้ำแล้วได้คำตอบเดิม” · “รันแล้วไม่ error” — ทั้งสี่ข้อนี้ไม่ใช่การตรวจสอบ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5526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สามตัวอย่างที่ผลลัพธ์จาก AI </a:t>
            </a: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ไม่ได้</a:t>
            </a: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 ถูกรับมาใช้ทั้งดุ้น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639312"/>
            <a:ext cx="3515258" cy="45720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ปฏิเสธทันที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AI เสนอให้เพิ่ม payment_denial_start_date เข้าไปในคีย์กำจัดของซ้ำของ Fact 2 มันแยกแยะได้ดีขึ้นจริง แต่คุณลักษณะที่ CMS แก้ย้อนหลังได้ต้องไม่อยู่ในคีย์ — ถ้าต้นทางแก้วันที่ ค่าปรับรายการเดิมจะกลายเป็นแถวใหม่ทันที คีย์จึงถูกเก็บให้แคบไว้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821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3639312"/>
            <a:ext cx="3515258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767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ปฏิเสธเชิงหลักการ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สองข้อเสนอถูกปฏิเสธด้วยเหตุผลเดียวกัน คือการซ่อนข้อบกพร่องแย่กว่าการแสดงมัน — การตัดแถว is_suspect ออกจาก view โดยปริยายขัดกับกฎ “ติดธง ไม่ลบ” จึงรายงาน suspect_rows ควบคู่ไปแทน · และการซ่อนแท็บ BQ1 ระหว่างที่ M10 ยังไม่ครบ จะทำให้ผู้อ่านไม่มีวันรู้ว่ามีช่องว่าง แท็บจึงอยู่ต่อพร้อมกล่องแดงบอกว่าอะไรขาด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806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8068" y="3639312"/>
            <a:ext cx="3515258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752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รับไว้ แต่ตรวจเองก่อน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AI รายงานว่า pipeline ทำแถวค่าปรับหายไปหนึ่งในสาม เราไม่เชื่อทันที — ไล่รายชื่อแฟ้มที่แตกออกมาของทั้งสองงวด นับแถว CSV ใหม่ด้วย pandas (16,180 และ 16,166) ทำยอดเดิมขึ้นมาเองด้วยมือ (8,789 + 16,180 + 16,166 = 41,135) แล้วไล่หา commit ต้นเหตุด้วย git show จึงค่อยบันทึกว่าเป็นข้อบกพร่องจริง · ส่วนข้อเสนอให้ revert นั้นถูกปฏิเสธ เพราะเหตุผลเดิมถูก และวิธีแก้ที่ถูกต้องแคบกว่านั้น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สิ่งที่ยังทำไม่ได้ — ประกาศเอง ไม่ปล่อยให้ผู้อ่านไปเจอเอง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81328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1. คะแนนดาวเป็นไม้บรรทัดที่ขยับเอง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ปรับเกณฑ์การให้ดาวระหว่างทาง การตกจาก 3.35 เหลือ 2.99 จึงปนการเปลี่ยนเกณฑ์กับการเปลี่ยนคุณภาพจริง ข้อสรุปเรื่องคุณภาพใน BQ5 จึงยืนบน</a:t>
            </a:r>
            <a:r>
              <a:rPr sz="10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จำนวนข้อบกพร่อง</a:t>
            </a: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(+23.7%) เป็นหลัก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3863" y="1481328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1481328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45920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2. ข้อมูลเครือมีเฉพาะปี 2569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คอลัมน์เครือเพิ่งเพิ่มเข้ามาปี 2568 BQ8 จึงยังแยกไม่ได้ว่า “เครือทำให้บ้านแย่ลง” หรือ “เครือไปซื้อบ้านที่แย่อยู่แล้ว” · ค่าปรับของยุคก่อน 2566 ชี้ไปที่แถว Unknown ไม่ใช่ “ไม่สังกัดเครือ”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62656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962656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27248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3. อัตราการลาออกมีเฉพาะยุค 2569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BQ4 จึงเป็น cross-sectional ไม่ใช่ longitudinal — บอกได้ว่าอัตราลาออกสูงไปด้วยกันกับคุณภาพต่ำ แต่บอกไม่ได้ว่าอันไหนมาก่อน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3863" y="2962656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2962656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3127248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4. ประชากรมีสองเส้นทางที่ยังไม่รวมกัน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Ref_State_Population ใช้งานได้และเป็นที่มาของตัวเลข BQ1 ทั้งหมด แต่คอลัมน์เดิม Dim_Geography.pop_65plus ยังว่าง view v_market_saturation และแดชบอร์ดชุด Plotly จึงยังคืนค่า null สำหรับ M10 — งานที่เหลือคือย้าย view มาอ่าน Ref_State_Population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43984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443984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08576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5. แหล่ง VBP ยังไม่ถูกทำแบบจำลอง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S3 ถูก extract แล้วแต่ยังไม่มีโมดูลใดอ่าน ตัวคูณจูงใจจึงยังไม่ถึงคลัง · Fact ตัวที่สามที่ grain เป็น (สถานพยาบาล × ปีงบประมาณ) ออกแบบไว้แล้วแต่ยังไม่ได้สร้าง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3863" y="4443984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3863" y="4443984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4608576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6. รายไตรมาส ไม่ใช่รายเดือน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มีครบ 88 งวดรายเดือน โครงงานใช้ 32 งวดรายไตรมาสเพื่อคุมขนาดข้อมูล ถ้าต้องการละเอียดกว่านี้ รัน fetch_snapshots.py --all (~3 GB) แล้ว build ใหม่ได้ทันที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สรุป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จากแฟ้ม ZIP 88 แฟ้มที่ไม่มีใครต่อกัน สู่คำตอบที่ตัดสินใจได้ 8 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แหล่งข้อมูล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3 แหล่งดึงผ่าน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188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8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กฎคุณภาพข้อมูล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1,555 แถวใน etl_run_log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2 + 6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Fact + Dimension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483,183 + 79,803 แถว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115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การตรวจที่ผ่าน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24 + 24 + 56 + 11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529584"/>
            <a:ext cx="10058400" cy="0"/>
          </a:xfrm>
          <a:prstGeom prst="line">
            <a:avLst/>
          </a:prstGeom>
          <a:ln w="12700">
            <a:solidFill>
              <a:srgbClr val="3A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37307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คะแนนพิเศษที่เข้าเกณฑ์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ดึงข้อมูลผ่าน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API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สองแหล่ง และประกอบ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nested JSON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ของสำมะโนประชากร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แดชบอร์ดด้วย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Streamlit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พร้อม drill-down รายรัฐและรายสถานพยาบาล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Incremental load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ในชั้น ETL และ pipeline ที่รันซ้ำได้ทั้งสาย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ตรวจคุณภาพข้อมูลอัตโนมัติ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ที่อ่าน etl_run_log สด ๆ บนหน้าจอ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เตรียม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analytical dataset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สำหรับต่อยอด (คะแนนเสี่ยงที่ผ่าน backtest 4 ปี)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30752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ลิงก์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โฟลเดอร์ Google Drive (Anyone with the link can view)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____________________________________________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แดชบอร์ด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____________________________________________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รายงานฉบับเต็ม  06_Report/eldercare_report.pdf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